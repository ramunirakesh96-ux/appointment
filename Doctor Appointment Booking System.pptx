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  <ns0:embeddedFont>
      <ns0:font typeface="Plus Jakarta Sans"/>
      <ns0:bold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16df9cee-a08f-4b58-8bd4-f08ec2f28774.fntdata" /><ns0:Relationship Id="rIdFont19" Type="http://schemas.openxmlformats.org/officeDocument/2006/relationships/font" Target="fonts/574ce4de-7fa2-4457-b03f-623ef149ad6f.fntdata" /><ns0:Relationship Id="rIdFont20" Type="http://schemas.openxmlformats.org/officeDocument/2006/relationships/font" Target="fonts/3e233b9c-1b07-4162-af8a-bdaa3c35e38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029075"/>
            <a:ext cx="10668000" cy="2257425"/>
          </a:xfrm>
          <a:prstGeom prst="roundRect">
            <a:avLst>
              <a:gd name="adj" fmla="val 6751"/>
            </a:avLst>
          </a:prstGeom>
          <a:solidFill>
            <a:srgbClr val="1B2538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571500"/>
            <a:ext cx="2733675" cy="295275"/>
          </a:xfrm>
          <a:prstGeom prst="roundRect">
            <a:avLst>
              <a:gd name="adj" fmla="val 50000"/>
            </a:avLst>
          </a:prstGeom>
          <a:solidFill>
            <a:srgbClr val="0F2C47"/>
          </a:solidFill>
          <a:ln w="9525">
            <a:solidFill>
              <a:srgbClr val="0F50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6325" y="4657725"/>
            <a:ext cx="4943475" cy="600075"/>
          </a:xfrm>
          <a:prstGeom prst="roundRect">
            <a:avLst>
              <a:gd name="adj" fmla="val 15873"/>
            </a:avLst>
          </a:prstGeom>
          <a:solidFill>
            <a:srgbClr val="26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4657725"/>
            <a:ext cx="4943475" cy="600075"/>
          </a:xfrm>
          <a:prstGeom prst="roundRect">
            <a:avLst>
              <a:gd name="adj" fmla="val 15873"/>
            </a:avLst>
          </a:prstGeom>
          <a:solidFill>
            <a:srgbClr val="26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6325" y="5410200"/>
            <a:ext cx="4943475" cy="600075"/>
          </a:xfrm>
          <a:prstGeom prst="roundRect">
            <a:avLst>
              <a:gd name="adj" fmla="val 15873"/>
            </a:avLst>
          </a:prstGeom>
          <a:solidFill>
            <a:srgbClr val="26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5410200"/>
            <a:ext cx="4943475" cy="600075"/>
          </a:xfrm>
          <a:prstGeom prst="roundRect">
            <a:avLst>
              <a:gd name="adj" fmla="val 15873"/>
            </a:avLst>
          </a:prstGeom>
          <a:solidFill>
            <a:srgbClr val="26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6325" y="4657725"/>
            <a:ext cx="28575" cy="6000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4657725"/>
            <a:ext cx="28575" cy="6000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6325" y="5410200"/>
            <a:ext cx="28575" cy="6000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5410200"/>
            <a:ext cx="28575" cy="6000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4333875"/>
            <a:ext cx="200025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628650"/>
            <a:ext cx="25241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DIGITAL HEALTHCARE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1057275"/>
            <a:ext cx="1130141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Doctor Appointment</a:t>
            </a:r>
            <a:r>
              <a:t>
</a:t>
            </a:r>
            <a:r>
              <a:rPr b="1" sz="3900" i="0" u="none">
                <a:solidFill>
                  <a:srgbClr val="38BDF8"/>
                </a:solidFill>
                <a:latin typeface="Plus Jakarta Sans"/>
              </a:rPr>
              <a:t>Booking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348805"/>
            <a:ext cx="6286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Streamlining Patient Access, Provider Scheduling, and Healthcare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305300"/>
            <a:ext cx="11115675" cy="200025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PROJECT TEAM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" y="4772025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Inter"/>
              </a:rPr>
              <a:t>Ramuni Rakesh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300" y="4991100"/>
            <a:ext cx="5762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monospace"/>
              </a:rPr>
              <a:t>25MVCSMR0167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3175" y="4772025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Inter"/>
              </a:rPr>
              <a:t>A. Raju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175" y="4991100"/>
            <a:ext cx="5762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monospace"/>
              </a:rPr>
              <a:t>25MVCSMR0100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5524500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Inter"/>
              </a:rPr>
              <a:t>K. Shashikanth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" y="5743575"/>
            <a:ext cx="5762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monospace"/>
              </a:rPr>
              <a:t>25MVCSMR0129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3175" y="5524500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Inter"/>
              </a:rPr>
              <a:t>V. Jeshwanth Chari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3175" y="5743575"/>
            <a:ext cx="5762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monospace"/>
              </a:rPr>
              <a:t>25MVCSMR0180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43050"/>
            <a:ext cx="5334000" cy="4781550"/>
          </a:xfrm>
          <a:prstGeom prst="roundRect">
            <a:avLst>
              <a:gd name="adj" fmla="val 3187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543050"/>
            <a:ext cx="5334000" cy="4781550"/>
          </a:xfrm>
          <a:prstGeom prst="roundRect">
            <a:avLst>
              <a:gd name="adj" fmla="val 318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47850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84785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1943100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450" y="194310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452687"/>
            <a:ext cx="12382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005137"/>
            <a:ext cx="12382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557587"/>
            <a:ext cx="12382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2452687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005137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557587"/>
            <a:ext cx="15240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INDUSTRY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Transforming Patient Access &amp; Scheduling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700" y="1905000"/>
            <a:ext cx="308788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F1239"/>
                </a:solidFill>
                <a:latin typeface="Plus Jakarta Sans"/>
              </a:rPr>
              <a:t>Traditional Bottlenecks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475" y="2419350"/>
            <a:ext cx="4600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11D48"/>
                </a:solidFill>
                <a:latin typeface="Inter"/>
              </a:rPr>
              <a:t>Long Phone Holds:</a:t>
            </a:r>
            <a:r>
              <a:rPr b="1" sz="1350" i="0" u="none">
                <a:solidFill>
                  <a:srgbClr val="E11D48"/>
                </a:solidFill>
                <a:latin typeface="Inter"/>
              </a:rPr>
              <a:t> High wait times for manual reception bookings.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475" y="2971800"/>
            <a:ext cx="4600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11D48"/>
                </a:solidFill>
                <a:latin typeface="Inter"/>
              </a:rPr>
              <a:t>High No-Show Rates:</a:t>
            </a:r>
            <a:r>
              <a:rPr b="1" sz="1350" i="0" u="none">
                <a:solidFill>
                  <a:srgbClr val="E11D48"/>
                </a:solidFill>
                <a:latin typeface="Inter"/>
              </a:rPr>
              <a:t> Lack of automated reminders leads to lost revenue.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475" y="3524250"/>
            <a:ext cx="4600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11D48"/>
                </a:solidFill>
                <a:latin typeface="Inter"/>
              </a:rPr>
              <a:t>OPD Congestion:</a:t>
            </a:r>
            <a:r>
              <a:rPr b="1" sz="1350" i="0" u="none">
                <a:solidFill>
                  <a:srgbClr val="E11D48"/>
                </a:solidFill>
                <a:latin typeface="Inter"/>
              </a:rPr>
              <a:t> Unmanaged walk-in queues and crowding.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0" y="1905000"/>
            <a:ext cx="203775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4532D"/>
                </a:solidFill>
                <a:latin typeface="Plus Jakarta Sans"/>
              </a:rPr>
              <a:t>Digital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0850" y="2419350"/>
            <a:ext cx="457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Inter"/>
              </a:rPr>
              <a:t>24/7 Self-Booking:</a:t>
            </a:r>
            <a:r>
              <a:rPr b="1" sz="1350" i="0" u="none">
                <a:solidFill>
                  <a:srgbClr val="16A34A"/>
                </a:solidFill>
                <a:latin typeface="Inter"/>
              </a:rPr>
              <a:t> Instant slot reservation anytime, anywhere.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0850" y="2971800"/>
            <a:ext cx="457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Inter"/>
              </a:rPr>
              <a:t>Automated Alerts:</a:t>
            </a:r>
            <a:r>
              <a:rPr b="1" sz="1350" i="0" u="none">
                <a:solidFill>
                  <a:srgbClr val="16A34A"/>
                </a:solidFill>
                <a:latin typeface="Inter"/>
              </a:rPr>
              <a:t> Multi-channel SMS and WhatsApp notifications.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0850" y="3524250"/>
            <a:ext cx="457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Inter"/>
              </a:rPr>
              <a:t>Smart Queue Tokens:</a:t>
            </a:r>
            <a:r>
              <a:rPr b="1" sz="1350" i="0" u="none">
                <a:solidFill>
                  <a:srgbClr val="16A34A"/>
                </a:solidFill>
                <a:latin typeface="Inter"/>
              </a:rPr>
              <a:t> Real-time doctor availability and token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62237"/>
            <a:ext cx="2571750" cy="2543175"/>
          </a:xfrm>
          <a:prstGeom prst="roundRect">
            <a:avLst>
              <a:gd name="adj" fmla="val 59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662237"/>
            <a:ext cx="2571750" cy="2543175"/>
          </a:xfrm>
          <a:prstGeom prst="roundRect">
            <a:avLst>
              <a:gd name="adj" fmla="val 59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662237"/>
            <a:ext cx="2571750" cy="2543175"/>
          </a:xfrm>
          <a:prstGeom prst="roundRect">
            <a:avLst>
              <a:gd name="adj" fmla="val 59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662237"/>
            <a:ext cx="2571750" cy="2543175"/>
          </a:xfrm>
          <a:prstGeom prst="roundRect">
            <a:avLst>
              <a:gd name="adj" fmla="val 59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765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9765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297656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775" y="2976562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7" y="3100387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6187" y="3100387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537" y="3100387"/>
            <a:ext cx="18097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312" y="3100387"/>
            <a:ext cx="2381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CORE PLATFORM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Key System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624262"/>
            <a:ext cx="27503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Doctor Directory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976687"/>
            <a:ext cx="2190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Search providers by specialty, experience, rating, and geographic location.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075" y="3624262"/>
            <a:ext cx="27503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Real-Time Slots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075" y="3976687"/>
            <a:ext cx="2190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Dynamic slot allocation preventing double booking and optimizing schedule density.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3624262"/>
            <a:ext cx="27503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Smart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3976687"/>
            <a:ext cx="2190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Automated confirmation messages and reminder notifications before appointments.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775" y="3624262"/>
            <a:ext cx="27503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Telehealth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8775" y="3976687"/>
            <a:ext cx="2190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Seamless integration with secure video calls for virtual consultations.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05041" y="27336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05041" y="33718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05041" y="40100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05041" y="46482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05025"/>
            <a:ext cx="4814441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END-TO-END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Patient Booking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2166" y="2733675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2166" y="337185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166" y="4010025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2166" y="46482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341" y="2733675"/>
            <a:ext cx="586323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Search &amp;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341" y="2990850"/>
            <a:ext cx="5584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Filter doctors by specialty, ratings, location, and fee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341" y="3371850"/>
            <a:ext cx="58882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Slot Selection &amp;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341" y="3629025"/>
            <a:ext cx="5607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Pick preferred date/time slot and complete digital intake 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341" y="4010025"/>
            <a:ext cx="58916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Confirmation &amp; Reminders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341" y="4267200"/>
            <a:ext cx="5845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Receive digital token, calendar event, and automated SMS alerts.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341" y="4648200"/>
            <a:ext cx="58916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Consultation &amp; E-Prescription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341" y="4905375"/>
            <a:ext cx="589165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Attend clinic/telehealth visit and receive digital consultation summary.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95487"/>
            <a:ext cx="5061793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38512"/>
            <a:ext cx="5061793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81537"/>
            <a:ext cx="5061793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995487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338512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681537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293" y="2105025"/>
            <a:ext cx="5568106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CLINICAL OPERATIONAL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Elevating In-Clinic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224087"/>
            <a:ext cx="599352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Zero Wait-Time Anxiety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538412"/>
            <a:ext cx="466174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Live token tracking informs patients of current doctor queue status.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567112"/>
            <a:ext cx="599352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Pre-Visit Digital 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881437"/>
            <a:ext cx="466174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Medical history uploaded before arrival, saving clinic registration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910137"/>
            <a:ext cx="599352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Seamless Follow-ups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5224462"/>
            <a:ext cx="466174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One-click rebooking and lab test scheduling right from consultation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20606" y="2166937"/>
            <a:ext cx="5061793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20606" y="3395662"/>
            <a:ext cx="5061793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20606" y="4624387"/>
            <a:ext cx="5061793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05025"/>
            <a:ext cx="5568106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106" y="2395537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106" y="3624262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106" y="4852987"/>
            <a:ext cx="1905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ADMINISTRATIVE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Provider Management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1106" y="2357437"/>
            <a:ext cx="5480893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Dynamic Availability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106" y="2633662"/>
            <a:ext cx="477604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Instant leave management, emergency slot overrides, and break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106" y="3586162"/>
            <a:ext cx="5480893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Utilization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106" y="3862387"/>
            <a:ext cx="477604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Real-time reporting on peak booking hours, cancellation causes, and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106" y="4814887"/>
            <a:ext cx="5480893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Multi-Location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106" y="5091112"/>
            <a:ext cx="477604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Manage multiple clinic branches and doctor rotations in a single portal.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9887"/>
            <a:ext cx="3454449" cy="2162175"/>
          </a:xfrm>
          <a:prstGeom prst="roundRect">
            <a:avLst>
              <a:gd name="adj" fmla="val 88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909887"/>
            <a:ext cx="3454449" cy="2162175"/>
          </a:xfrm>
          <a:prstGeom prst="roundRect">
            <a:avLst>
              <a:gd name="adj" fmla="val 88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909887"/>
            <a:ext cx="3454449" cy="2162175"/>
          </a:xfrm>
          <a:prstGeom prst="roundRect">
            <a:avLst>
              <a:gd name="adj" fmla="val 88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MEASURABLE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Quantifiable Healthcare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50" y="3300412"/>
            <a:ext cx="3722749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Inter"/>
              </a:rP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381" y="4024312"/>
            <a:ext cx="39088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Reduction in No-Shows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50" y="4319587"/>
            <a:ext cx="37227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Driven by automated SMS and WhatsApp reminders.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4699" y="3300412"/>
            <a:ext cx="3722749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Inter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1630" y="4024312"/>
            <a:ext cx="39088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Lower Admin 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4699" y="4319587"/>
            <a:ext cx="37227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Automated scheduling frees front-desk staff efficiency.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949" y="3300412"/>
            <a:ext cx="3722749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Inter"/>
              </a:rP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0880" y="4024312"/>
            <a:ext cx="39088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Patient Access 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3949" y="4319587"/>
            <a:ext cx="37227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Over 60% of bookings made outside clinic working hours.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95487"/>
            <a:ext cx="5295900" cy="1152525"/>
          </a:xfrm>
          <a:prstGeom prst="roundRect">
            <a:avLst>
              <a:gd name="adj" fmla="val 1157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38512"/>
            <a:ext cx="5295900" cy="1152525"/>
          </a:xfrm>
          <a:prstGeom prst="roundRect">
            <a:avLst>
              <a:gd name="adj" fmla="val 1157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81537"/>
            <a:ext cx="5295900" cy="1152525"/>
          </a:xfrm>
          <a:prstGeom prst="roundRect">
            <a:avLst>
              <a:gd name="adj" fmla="val 1157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995487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338512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681537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105025"/>
            <a:ext cx="52959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262187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3605212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948237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TRUST &amp;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Security &amp; Compliance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224087"/>
            <a:ext cx="6300787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HIPAA &amp; Data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538412"/>
            <a:ext cx="4895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Full alignment with healthcare privacy standards and encrypted record storage.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567112"/>
            <a:ext cx="6300787" cy="2381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End-to-End Encryption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881437"/>
            <a:ext cx="4895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AES-256 bit data encryption in transit and at rest for patient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910137"/>
            <a:ext cx="6300787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Role-Based Access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5224462"/>
            <a:ext cx="4895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Strict permission levels for patients, front desk, and medical personnel.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24062"/>
            <a:ext cx="537210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024062"/>
            <a:ext cx="537210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29137"/>
            <a:ext cx="537210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529137"/>
            <a:ext cx="537210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300287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300287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805362"/>
            <a:ext cx="2000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805362"/>
            <a:ext cx="3333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Technology &amp; 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681287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Responsive React / Web &amp; Mobile applications for cross-platform booking convenience.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2681287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Node.js / Python microservices paired with encrypted PostgreSQL database.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5186362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HL7 / FHIR standard API sync with hospital medical records and billing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5186362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Twilio &amp; WhatsApp Business API integration for instant notification dispatch.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3025" y="2314575"/>
            <a:ext cx="187523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Frontend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5625" y="2314575"/>
            <a:ext cx="256282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Backend &amp;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50" y="4819650"/>
            <a:ext cx="266283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EHR / EMR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4819650"/>
            <a:ext cx="261282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Messaging Gateways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33937" y="4436715"/>
            <a:ext cx="2524125" cy="447675"/>
          </a:xfrm>
          <a:prstGeom prst="roundRect">
            <a:avLst>
              <a:gd name="adj" fmla="val 5000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73609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145059"/>
            <a:ext cx="33337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89549" y="2811809"/>
            <a:ext cx="321290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545234"/>
            <a:ext cx="76200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Revolutionizing patient care access through modern, efficient, and secure scheduling technology.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5121" y="4551015"/>
            <a:ext cx="262175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669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57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457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228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228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4987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09850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81375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1042987"/>
            <a:ext cx="7465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https://cdn.dribbble.com/userupload/43541966/file/original-c8bce5e7d75a6854b4621b8d6f7bff11.jpg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243012"/>
            <a:ext cx="1952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dribbble.com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https://media.istockphoto.com/id/928698218/photo/doctor-and-family-consulting-patient-lying-on-hospital-bed-talking-happy-about-the-diagnose.jpg?s=612x612&amp;w=is&amp;k=20&amp;c=L3AmRIRkq9cFPwyaknjD_pxpHAOCsd_YtcH72CjDYyU=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124075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652712"/>
            <a:ext cx="8096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https://multipurposethemes.com/wp-content/uploads/2025/06/Oral-Admin-Dental-Dashboard-1024x924.png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852737"/>
            <a:ext cx="3012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multipurposethemes.com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3424237"/>
            <a:ext cx="8048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https://www.hipaajournal.com/wp-content/uploads/2024/02/Ten-Steps-to-HIPAA-Compliance-1024x598.jpg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624262"/>
            <a:ext cx="2809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www.hipaajournal.com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